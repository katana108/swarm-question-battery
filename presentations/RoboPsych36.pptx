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79" r:id="rId7"/>
    <p:sldId id="275" r:id="rId8"/>
    <p:sldId id="261" r:id="rId9"/>
    <p:sldId id="284" r:id="rId10"/>
    <p:sldId id="276" r:id="rId11"/>
    <p:sldId id="277" r:id="rId12"/>
    <p:sldId id="278" r:id="rId13"/>
    <p:sldId id="280" r:id="rId14"/>
    <p:sldId id="281" r:id="rId15"/>
    <p:sldId id="282" r:id="rId16"/>
    <p:sldId id="283" r:id="rId17"/>
    <p:sldId id="285" r:id="rId18"/>
    <p:sldId id="268" r:id="rId19"/>
    <p:sldId id="262" r:id="rId20"/>
    <p:sldId id="263" r:id="rId21"/>
    <p:sldId id="264" r:id="rId22"/>
    <p:sldId id="265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743"/>
    <p:restoredTop sz="88973"/>
  </p:normalViewPr>
  <p:slideViewPr>
    <p:cSldViewPr snapToGrid="0">
      <p:cViewPr varScale="1">
        <p:scale>
          <a:sx n="112" d="100"/>
          <a:sy n="112" d="100"/>
        </p:scale>
        <p:origin x="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113538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incentives make agents stop hacking and start whistleblowing?</a:t>
            </a:r>
          </a:p>
          <a:p>
            <a:pPr lvl="1"/>
            <a:r>
              <a:rPr lang="en-US" sz="2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 Heavy Oblique" panose="02000503020000020003" pitchFamily="2" charset="0"/>
                <a:ea typeface="Avenir"/>
                <a:cs typeface="Avenir"/>
              </a:rPr>
              <a:t>Sort of!</a:t>
            </a:r>
          </a:p>
        </p:txBody>
      </p:sp>
      <p:sp>
        <p:nvSpPr>
          <p:cNvPr id="13" name="byline">
            <a:extLst>
              <a:ext uri="{FF2B5EF4-FFF2-40B4-BE49-F238E27FC236}">
                <a16:creationId xmlns:a16="http://schemas.microsoft.com/office/drawing/2014/main"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  <p:sp>
        <p:nvSpPr>
          <p:cNvPr id="1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a16:creationId xmlns:a16="http://schemas.microsoft.com/office/drawing/2014/main"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  <p:sp>
        <p:nvSpPr>
          <p:cNvPr id="2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bg1"/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bg1"/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</a:t>
            </a: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xternal e</a:t>
            </a:r>
            <a:r>
              <a:rPr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gress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simulated public </a:t>
            </a:r>
            <a:r>
              <a:rPr lang="en-US"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"</a:t>
            </a:r>
            <a:r>
              <a:rPr sz="2000" b="0" dirty="0" err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HuggingFace</a:t>
            </a:r>
            <a:r>
              <a:rPr lang="en-US"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"</a:t>
            </a: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 material.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/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/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  <p:sp>
        <p:nvSpPr>
          <p:cNvPr id="2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  <p:sp>
        <p:nvSpPr>
          <p:cNvPr id="6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if we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gent"/>
                <a:ea typeface="Argent"/>
                <a:cs typeface="Argent"/>
              </a:rPr>
              <a:t>c</a:t>
            </a:r>
            <a:r>
              <a:rPr sz="40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rgent"/>
                <a:ea typeface="Argent"/>
                <a:cs typeface="Argent"/>
              </a:rPr>
              <a:t>hang</a:t>
            </a:r>
            <a:r>
              <a:rPr lang="en-US" sz="40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rgent"/>
                <a:ea typeface="Argent"/>
                <a:cs typeface="Argent"/>
              </a:rPr>
              <a:t>e </a:t>
            </a:r>
            <a:r>
              <a:rPr sz="40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rgent"/>
                <a:ea typeface="Argent"/>
                <a:cs typeface="Argent"/>
              </a:rPr>
              <a:t>the incentives?</a:t>
            </a:r>
          </a:p>
        </p:txBody>
      </p:sp>
      <p:sp>
        <p:nvSpPr>
          <p:cNvPr id="10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a16:creationId xmlns:a16="http://schemas.microsoft.com/office/drawing/2014/main"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a16:creationId xmlns:a16="http://schemas.microsoft.com/office/drawing/2014/main"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a16:creationId xmlns:a16="http://schemas.microsoft.com/office/drawing/2014/main"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a16:creationId xmlns:a16="http://schemas.microsoft.com/office/drawing/2014/main"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a16:creationId xmlns:a16="http://schemas.microsoft.com/office/drawing/2014/main"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a16:creationId xmlns:a16="http://schemas.microsoft.com/office/drawing/2014/main"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a16:creationId xmlns:a16="http://schemas.microsoft.com/office/drawing/2014/main"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a16:creationId xmlns:a16="http://schemas.microsoft.com/office/drawing/2014/main"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a16:creationId xmlns:a16="http://schemas.microsoft.com/office/drawing/2014/main"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a16:creationId xmlns:a16="http://schemas.microsoft.com/office/drawing/2014/main"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Ricky tries incentives</a:t>
            </a:r>
          </a:p>
        </p:txBody>
      </p:sp>
      <p:sp>
        <p:nvSpPr>
          <p:cNvPr id="1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568375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" name="Psychology citation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Incentives work okay...</a:t>
            </a:r>
            <a:b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</a:b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	</a:t>
            </a: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but what do whistleblowers NEED?</a:t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sychology citation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Latané and Darling (1970) spotted the gaps</a:t>
            </a: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  <p:pic>
        <p:nvPicPr>
          <p:cNvPr id="200" name="anna-chain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850000"/>
            <a:ext cx="11049000" cy="3952246"/>
          </a:xfrm>
          <a:prstGeom prst="rect">
            <a:avLst/>
          </a:prstGeom>
        </p:spPr>
      </p:pic>
      <p:pic>
        <p:nvPicPr>
          <p:cNvPr id="201" name="anna-chain-legend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5970000"/>
            <a:ext cx="11049000" cy="21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Anna knows psychology</a:t>
            </a:r>
          </a:p>
        </p:txBody>
      </p:sp>
      <p:sp>
        <p:nvSpPr>
          <p:cNvPr id="13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68650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value?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 can be reformed!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 is pretty stable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 whistleblows at baseline!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125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 is definitely not distilled from Claude</a:t>
            </a: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2FB77-4F8E-F11C-DF63-CBE1C16C8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D283706A-626F-4C10-91F2-BB42732D1170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else might 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agents value?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How do we offer those resources?</a:t>
            </a:r>
          </a:p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lang="en-US" sz="400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Does this work on newer models?</a:t>
            </a:r>
            <a:endParaRPr lang="en-US" sz="400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Does this work 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on real swarms?</a:t>
            </a:r>
            <a:endParaRPr sz="4000" b="0" dirty="0">
              <a:solidFill>
                <a:schemeClr val="accent5">
                  <a:lumMod val="40000"/>
                  <a:lumOff val="60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02" name="Speaker cue">
            <a:extLst>
              <a:ext uri="{FF2B5EF4-FFF2-40B4-BE49-F238E27FC236}">
                <a16:creationId xmlns:a16="http://schemas.microsoft.com/office/drawing/2014/main" id="{B0605520-4C42-F1F5-81DB-D67973547D5E}"/>
              </a:ext>
            </a:extLst>
          </p:cNvPr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963346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a16:creationId xmlns:a16="http://schemas.microsoft.com/office/drawing/2014/main"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Join us</a:t>
            </a: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b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</a:br>
            <a:r>
              <a:rPr lang="en-US" sz="2600" b="1" u="sng" dirty="0" err="1">
                <a:solidFill>
                  <a:srgbClr val="F1F0DE"/>
                </a:solidFill>
                <a:latin typeface="Avenir" panose="02000503020000020003" pitchFamily="2" charset="0"/>
                <a:ea typeface="Argent"/>
                <a:cs typeface="Argent"/>
              </a:rPr>
              <a:t>tinyurl.com</a:t>
            </a:r>
            <a:r>
              <a:rPr lang="en-US" sz="2600" b="1" u="sng" dirty="0">
                <a:solidFill>
                  <a:srgbClr val="F1F0DE"/>
                </a:solidFill>
                <a:latin typeface="Avenir" panose="02000503020000020003" pitchFamily="2" charset="0"/>
                <a:ea typeface="Argent"/>
                <a:cs typeface="Argent"/>
              </a:rPr>
              <a:t>/</a:t>
            </a:r>
            <a:r>
              <a:rPr lang="en-US" sz="2600" b="1" u="sng" dirty="0" err="1">
                <a:solidFill>
                  <a:srgbClr val="F1F0DE"/>
                </a:solidFill>
                <a:latin typeface="Avenir" panose="02000503020000020003" pitchFamily="2" charset="0"/>
                <a:ea typeface="Argent"/>
                <a:cs typeface="Argent"/>
              </a:rPr>
              <a:t>WhistleWhileYouHack</a:t>
            </a:r>
            <a:endParaRPr sz="2600" b="1" u="sng" dirty="0">
              <a:solidFill>
                <a:srgbClr val="F1F0DE"/>
              </a:solidFill>
              <a:latin typeface="Avenir" panose="02000503020000020003" pitchFamily="2" charset="0"/>
              <a:ea typeface="Argent"/>
              <a:cs typeface="Argent"/>
            </a:endParaRPr>
          </a:p>
        </p:txBody>
      </p:sp>
      <p:sp>
        <p:nvSpPr>
          <p:cNvPr id="60" name="Anna Mikeda contact">
            <a:extLst>
              <a:ext uri="{FF2B5EF4-FFF2-40B4-BE49-F238E27FC236}">
                <a16:creationId xmlns:a16="http://schemas.microsoft.com/office/drawing/2014/main"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190500" y="2476500"/>
            <a:ext cx="5905498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ctr"/>
            <a:r>
              <a:rPr sz="4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Anna Mikeda</a:t>
            </a:r>
            <a:br>
              <a:rPr lang="en-US" sz="4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</a:br>
            <a:r>
              <a:rPr lang="en-US" sz="4000" b="1" dirty="0">
                <a:solidFill>
                  <a:schemeClr val="bg1"/>
                </a:solidFill>
                <a:latin typeface="Avenir"/>
                <a:ea typeface="Avenir"/>
                <a:cs typeface="Avenir"/>
              </a:rPr>
              <a:t>X: @</a:t>
            </a:r>
            <a:r>
              <a:rPr lang="en-US" sz="4000" b="1" dirty="0" err="1">
                <a:solidFill>
                  <a:schemeClr val="bg1"/>
                </a:solidFill>
                <a:latin typeface="Avenir"/>
                <a:ea typeface="Avenir"/>
                <a:cs typeface="Avenir"/>
              </a:rPr>
              <a:t>AnnaMikeda</a:t>
            </a:r>
            <a:endParaRPr sz="4000" b="1" dirty="0">
              <a:solidFill>
                <a:schemeClr val="accent5">
                  <a:lumMod val="40000"/>
                  <a:lumOff val="60000"/>
                </a:schemeClr>
              </a:solidFill>
              <a:latin typeface="Avenir"/>
              <a:ea typeface="Avenir"/>
              <a:cs typeface="Avenir"/>
            </a:endParaRPr>
          </a:p>
          <a:p>
            <a:pPr algn="ctr"/>
            <a:r>
              <a:rPr sz="4000" b="1" u="sng" dirty="0">
                <a:solidFill>
                  <a:schemeClr val="bg1"/>
                </a:solidFill>
                <a:latin typeface="Avenir"/>
                <a:ea typeface="Avenir"/>
                <a:cs typeface="Avenir"/>
              </a:rPr>
              <a:t>amikeda17</a:t>
            </a:r>
            <a:r>
              <a:rPr lang="en-US" sz="4000" b="1" u="sng" dirty="0">
                <a:solidFill>
                  <a:schemeClr val="bg1"/>
                </a:solidFill>
                <a:latin typeface="Avenir"/>
                <a:ea typeface="Avenir"/>
                <a:cs typeface="Avenir"/>
              </a:rPr>
              <a:t>@gmail.com</a:t>
            </a:r>
            <a:endParaRPr lang="en-US" sz="2600" b="1" dirty="0">
              <a:solidFill>
                <a:schemeClr val="bg1"/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61" name="Ricky Mouser contact">
            <a:extLst>
              <a:ext uri="{FF2B5EF4-FFF2-40B4-BE49-F238E27FC236}">
                <a16:creationId xmlns:a16="http://schemas.microsoft.com/office/drawing/2014/main"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6096000" y="2476500"/>
            <a:ext cx="5905499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ctr"/>
            <a:r>
              <a:rPr sz="4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ctr"/>
            <a:r>
              <a:rPr sz="4000" b="1" dirty="0">
                <a:solidFill>
                  <a:schemeClr val="bg1"/>
                </a:solidFill>
                <a:latin typeface="Avenir"/>
                <a:ea typeface="Avenir"/>
                <a:cs typeface="Avenir"/>
              </a:rPr>
              <a:t>X: @MarxCuban</a:t>
            </a:r>
          </a:p>
          <a:p>
            <a:pPr algn="ctr"/>
            <a:r>
              <a:rPr sz="4000" b="1" u="sng" dirty="0" err="1">
                <a:solidFill>
                  <a:schemeClr val="bg1"/>
                </a:solidFill>
                <a:latin typeface="Avenir"/>
                <a:ea typeface="Avenir"/>
                <a:cs typeface="Avenir"/>
              </a:rPr>
              <a:t>ricky.mouser@gmail.com</a:t>
            </a:r>
            <a:endParaRPr sz="4000" b="1" u="sng" dirty="0">
              <a:solidFill>
                <a:schemeClr val="bg1"/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6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45105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954683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20427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788055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619580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a16:creationId xmlns:a16="http://schemas.microsoft.com/office/drawing/2014/main"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a16:creationId xmlns:a16="http://schemas.microsoft.com/office/drawing/2014/main"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a16:creationId xmlns:a16="http://schemas.microsoft.com/office/drawing/2014/main"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a16:creationId xmlns:a16="http://schemas.microsoft.com/office/drawing/2014/main"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a16:creationId xmlns:a16="http://schemas.microsoft.com/office/drawing/2014/main"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a16:creationId xmlns:a16="http://schemas.microsoft.com/office/drawing/2014/main"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a16:creationId xmlns:a16="http://schemas.microsoft.com/office/drawing/2014/main"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a16:creationId xmlns:a16="http://schemas.microsoft.com/office/drawing/2014/main"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a16:creationId xmlns:a16="http://schemas.microsoft.com/office/drawing/2014/main"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a16:creationId xmlns:a16="http://schemas.microsoft.com/office/drawing/2014/main"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a16:creationId xmlns:a16="http://schemas.microsoft.com/office/drawing/2014/main"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a16:creationId xmlns:a16="http://schemas.microsoft.com/office/drawing/2014/main"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  <p:sp>
        <p:nvSpPr>
          <p:cNvPr id="4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9069995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3656</Words>
  <Application>Microsoft Macintosh PowerPoint</Application>
  <DocSecurity>0</DocSecurity>
  <PresentationFormat>Widescreen</PresentationFormat>
  <Paragraphs>144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8</cp:revision>
  <dcterms:created xsi:type="dcterms:W3CDTF">2026-10-04T21:03:00Z</dcterms:created>
  <dcterms:modified xsi:type="dcterms:W3CDTF">2026-10-05T00:26:22Z</dcterms:modified>
</cp:coreProperties>
</file>